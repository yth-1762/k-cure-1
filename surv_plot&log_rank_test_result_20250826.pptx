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2" r:id="rId2"/>
    <p:sldId id="256" r:id="rId3"/>
    <p:sldId id="268" r:id="rId4"/>
    <p:sldId id="263" r:id="rId5"/>
    <p:sldId id="257" r:id="rId6"/>
    <p:sldId id="269" r:id="rId7"/>
    <p:sldId id="266" r:id="rId8"/>
    <p:sldId id="270" r:id="rId9"/>
    <p:sldId id="271" r:id="rId10"/>
    <p:sldId id="267" r:id="rId11"/>
    <p:sldId id="272" r:id="rId12"/>
    <p:sldId id="27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30471-ED00-4B40-B84E-2B4E8E59E258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0F75C-76DA-426F-886A-C5F116591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511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9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79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012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66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9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14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598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793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999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46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74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8074D-F607-4196-B6AD-625CC5335524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CB205-A57A-45E8-A38F-16A8DFAB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24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6186" y="6369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All-cause mortality</a:t>
            </a:r>
          </a:p>
          <a:p>
            <a:pPr marL="0" indent="0">
              <a:buNone/>
            </a:pP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(1.Never-smokers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2.Smoking </a:t>
            </a:r>
            <a:r>
              <a:rPr lang="en-US" altLang="ko-KR" dirty="0"/>
              <a:t>quitters before diagnosis </a:t>
            </a:r>
          </a:p>
          <a:p>
            <a:pPr marL="0" indent="0">
              <a:buNone/>
            </a:pPr>
            <a:r>
              <a:rPr lang="en-US" altLang="ko-KR" dirty="0" smtClean="0"/>
              <a:t>3.Smoking </a:t>
            </a:r>
            <a:r>
              <a:rPr lang="en-US" altLang="ko-KR" dirty="0"/>
              <a:t>quitters after diagnosis</a:t>
            </a:r>
          </a:p>
          <a:p>
            <a:pPr marL="0" indent="0">
              <a:buNone/>
            </a:pPr>
            <a:r>
              <a:rPr lang="en-US" altLang="ko-KR" dirty="0" smtClean="0"/>
              <a:t>4.Continuous </a:t>
            </a:r>
            <a:r>
              <a:rPr lang="en-US" altLang="ko-KR" dirty="0"/>
              <a:t>smokers after </a:t>
            </a:r>
            <a:r>
              <a:rPr lang="en-US" altLang="ko-KR" dirty="0" smtClean="0"/>
              <a:t>diagnosis)  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2237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996268"/>
              </p:ext>
            </p:extLst>
          </p:nvPr>
        </p:nvGraphicFramePr>
        <p:xfrm>
          <a:off x="386082" y="736290"/>
          <a:ext cx="4219170" cy="3935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032">
                  <a:extLst>
                    <a:ext uri="{9D8B030D-6E8A-4147-A177-3AD203B41FA5}">
                      <a16:colId xmlns:a16="http://schemas.microsoft.com/office/drawing/2014/main" val="3822832188"/>
                    </a:ext>
                  </a:extLst>
                </a:gridCol>
                <a:gridCol w="1142046">
                  <a:extLst>
                    <a:ext uri="{9D8B030D-6E8A-4147-A177-3AD203B41FA5}">
                      <a16:colId xmlns:a16="http://schemas.microsoft.com/office/drawing/2014/main" val="1125811721"/>
                    </a:ext>
                  </a:extLst>
                </a:gridCol>
                <a:gridCol w="1142046">
                  <a:extLst>
                    <a:ext uri="{9D8B030D-6E8A-4147-A177-3AD203B41FA5}">
                      <a16:colId xmlns:a16="http://schemas.microsoft.com/office/drawing/2014/main" val="1137385724"/>
                    </a:ext>
                  </a:extLst>
                </a:gridCol>
                <a:gridCol w="1142046">
                  <a:extLst>
                    <a:ext uri="{9D8B030D-6E8A-4147-A177-3AD203B41FA5}">
                      <a16:colId xmlns:a16="http://schemas.microsoft.com/office/drawing/2014/main" val="365646451"/>
                    </a:ext>
                  </a:extLst>
                </a:gridCol>
              </a:tblGrid>
              <a:tr h="834795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Never-smokers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before diagnosis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after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diagnosis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69112"/>
                  </a:ext>
                </a:extLst>
              </a:tr>
              <a:tr h="9838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before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diagnosis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&lt;0.001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43900"/>
                  </a:ext>
                </a:extLst>
              </a:tr>
              <a:tr h="9838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after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diagnosis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&lt;0.001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0.149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693599"/>
                  </a:ext>
                </a:extLst>
              </a:tr>
              <a:tr h="11329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Continuous smokers after diagnosis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&lt;0.001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&lt;0.001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0.013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77616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712930" y="897774"/>
            <a:ext cx="7479070" cy="44873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919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232933" y="351686"/>
            <a:ext cx="9931059" cy="59583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878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6186" y="6369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Lung-cancer mortality</a:t>
            </a:r>
          </a:p>
          <a:p>
            <a:pPr marL="0" indent="0">
              <a:buNone/>
            </a:pP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(1.Never-smokers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2.Smoking </a:t>
            </a:r>
            <a:r>
              <a:rPr lang="en-US" altLang="ko-KR" dirty="0"/>
              <a:t>quitters before diagnosis </a:t>
            </a:r>
          </a:p>
          <a:p>
            <a:pPr marL="0" indent="0">
              <a:buNone/>
            </a:pPr>
            <a:r>
              <a:rPr lang="en-US" altLang="ko-KR" dirty="0" smtClean="0"/>
              <a:t>3.Smoking </a:t>
            </a:r>
            <a:r>
              <a:rPr lang="en-US" altLang="ko-KR" dirty="0"/>
              <a:t>quitters after diagnosis</a:t>
            </a:r>
          </a:p>
          <a:p>
            <a:pPr marL="0" indent="0">
              <a:buNone/>
            </a:pPr>
            <a:r>
              <a:rPr lang="en-US" altLang="ko-KR" dirty="0" smtClean="0"/>
              <a:t>4.Continuous </a:t>
            </a:r>
            <a:r>
              <a:rPr lang="en-US" altLang="ko-KR" dirty="0"/>
              <a:t>smokers after </a:t>
            </a:r>
            <a:r>
              <a:rPr lang="en-US" altLang="ko-KR" dirty="0" smtClean="0"/>
              <a:t>diagnosis)  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2280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661954"/>
              </p:ext>
            </p:extLst>
          </p:nvPr>
        </p:nvGraphicFramePr>
        <p:xfrm>
          <a:off x="386082" y="736290"/>
          <a:ext cx="4219170" cy="3935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032">
                  <a:extLst>
                    <a:ext uri="{9D8B030D-6E8A-4147-A177-3AD203B41FA5}">
                      <a16:colId xmlns:a16="http://schemas.microsoft.com/office/drawing/2014/main" val="3822832188"/>
                    </a:ext>
                  </a:extLst>
                </a:gridCol>
                <a:gridCol w="1142046">
                  <a:extLst>
                    <a:ext uri="{9D8B030D-6E8A-4147-A177-3AD203B41FA5}">
                      <a16:colId xmlns:a16="http://schemas.microsoft.com/office/drawing/2014/main" val="1125811721"/>
                    </a:ext>
                  </a:extLst>
                </a:gridCol>
                <a:gridCol w="1142046">
                  <a:extLst>
                    <a:ext uri="{9D8B030D-6E8A-4147-A177-3AD203B41FA5}">
                      <a16:colId xmlns:a16="http://schemas.microsoft.com/office/drawing/2014/main" val="1137385724"/>
                    </a:ext>
                  </a:extLst>
                </a:gridCol>
                <a:gridCol w="1142046">
                  <a:extLst>
                    <a:ext uri="{9D8B030D-6E8A-4147-A177-3AD203B41FA5}">
                      <a16:colId xmlns:a16="http://schemas.microsoft.com/office/drawing/2014/main" val="365646451"/>
                    </a:ext>
                  </a:extLst>
                </a:gridCol>
              </a:tblGrid>
              <a:tr h="834795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Never-smokers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before diagnosis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after diagnosis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69112"/>
                  </a:ext>
                </a:extLst>
              </a:tr>
              <a:tr h="9838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before diagnosis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&lt;0.001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43900"/>
                  </a:ext>
                </a:extLst>
              </a:tr>
              <a:tr h="9838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after diagnosis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&lt;0.001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0.212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693599"/>
                  </a:ext>
                </a:extLst>
              </a:tr>
              <a:tr h="11329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Continuous smokers after diagnosis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&lt;0.001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0.040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0.244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7761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759775" y="864522"/>
            <a:ext cx="7559457" cy="4535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713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080000" y="487570"/>
            <a:ext cx="9826298" cy="58956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4461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6186" y="6369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smtClean="0"/>
              <a:t>All-cause mortality</a:t>
            </a:r>
          </a:p>
          <a:p>
            <a:pPr marL="0" indent="0">
              <a:buNone/>
            </a:pP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</a:t>
            </a:r>
            <a:r>
              <a:rPr lang="en-US" altLang="ko-KR" dirty="0"/>
              <a:t>1. Smoking quitters without NTP use</a:t>
            </a:r>
          </a:p>
          <a:p>
            <a:pPr marL="0" indent="0">
              <a:buNone/>
            </a:pPr>
            <a:r>
              <a:rPr lang="en-US" altLang="ko-KR" dirty="0"/>
              <a:t>2. Smoking quitters after NTP use </a:t>
            </a:r>
          </a:p>
          <a:p>
            <a:pPr marL="0" indent="0">
              <a:buNone/>
            </a:pPr>
            <a:r>
              <a:rPr lang="en-US" altLang="ko-KR" dirty="0"/>
              <a:t>3. Continuous </a:t>
            </a:r>
            <a:r>
              <a:rPr lang="en-US" altLang="ko-KR" dirty="0" smtClean="0"/>
              <a:t>smokers)  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83033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954687"/>
              </p:ext>
            </p:extLst>
          </p:nvPr>
        </p:nvGraphicFramePr>
        <p:xfrm>
          <a:off x="307572" y="719663"/>
          <a:ext cx="4754880" cy="5506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354218412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1340878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4087632705"/>
                    </a:ext>
                  </a:extLst>
                </a:gridCol>
              </a:tblGrid>
              <a:tr h="183552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without NTP use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after NTP use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0105"/>
                  </a:ext>
                </a:extLst>
              </a:tr>
              <a:tr h="18355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after NTP use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0.631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236393"/>
                  </a:ext>
                </a:extLst>
              </a:tr>
              <a:tr h="18355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Continuous smokers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FF0000"/>
                          </a:solidFill>
                        </a:rPr>
                        <a:t>&lt;0.001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0.974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1056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232193" y="1206030"/>
            <a:ext cx="7556720" cy="45338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5647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977366" y="351687"/>
            <a:ext cx="9957301" cy="59742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0414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6186" y="6369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smtClean="0"/>
              <a:t>Lung-cancer mortality</a:t>
            </a:r>
          </a:p>
          <a:p>
            <a:pPr marL="0" indent="0">
              <a:buNone/>
            </a:pP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</a:t>
            </a:r>
            <a:r>
              <a:rPr lang="en-US" altLang="ko-KR" dirty="0"/>
              <a:t>1. Smoking quitters without NTP use</a:t>
            </a:r>
          </a:p>
          <a:p>
            <a:pPr marL="0" indent="0">
              <a:buNone/>
            </a:pPr>
            <a:r>
              <a:rPr lang="en-US" altLang="ko-KR" dirty="0"/>
              <a:t>2. Smoking quitters after NTP use </a:t>
            </a:r>
          </a:p>
          <a:p>
            <a:pPr marL="0" indent="0">
              <a:buNone/>
            </a:pPr>
            <a:r>
              <a:rPr lang="en-US" altLang="ko-KR" dirty="0"/>
              <a:t>3. Continuous </a:t>
            </a:r>
            <a:r>
              <a:rPr lang="en-US" altLang="ko-KR" dirty="0" smtClean="0"/>
              <a:t>smokers)  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46124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136455"/>
              </p:ext>
            </p:extLst>
          </p:nvPr>
        </p:nvGraphicFramePr>
        <p:xfrm>
          <a:off x="307572" y="719664"/>
          <a:ext cx="4630188" cy="500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396">
                  <a:extLst>
                    <a:ext uri="{9D8B030D-6E8A-4147-A177-3AD203B41FA5}">
                      <a16:colId xmlns:a16="http://schemas.microsoft.com/office/drawing/2014/main" val="3542184122"/>
                    </a:ext>
                  </a:extLst>
                </a:gridCol>
                <a:gridCol w="1543396">
                  <a:extLst>
                    <a:ext uri="{9D8B030D-6E8A-4147-A177-3AD203B41FA5}">
                      <a16:colId xmlns:a16="http://schemas.microsoft.com/office/drawing/2014/main" val="113408781"/>
                    </a:ext>
                  </a:extLst>
                </a:gridCol>
                <a:gridCol w="1543396">
                  <a:extLst>
                    <a:ext uri="{9D8B030D-6E8A-4147-A177-3AD203B41FA5}">
                      <a16:colId xmlns:a16="http://schemas.microsoft.com/office/drawing/2014/main" val="4087632705"/>
                    </a:ext>
                  </a:extLst>
                </a:gridCol>
              </a:tblGrid>
              <a:tr h="16692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without NTP use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after NTP use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0105"/>
                  </a:ext>
                </a:extLst>
              </a:tr>
              <a:tr h="16692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Smoking quitters after NTP use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0.638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236393"/>
                  </a:ext>
                </a:extLst>
              </a:tr>
              <a:tr h="16692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Continuous smokers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0.138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0.775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1056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145577" y="1057341"/>
            <a:ext cx="7220749" cy="43324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0984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937602" y="351687"/>
            <a:ext cx="9763501" cy="58579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9976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118</Words>
  <Application>Microsoft Office PowerPoint</Application>
  <PresentationFormat>와이드스크린</PresentationFormat>
  <Paragraphs>64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142</cp:revision>
  <dcterms:created xsi:type="dcterms:W3CDTF">2025-05-13T02:25:39Z</dcterms:created>
  <dcterms:modified xsi:type="dcterms:W3CDTF">2025-08-20T07:53:10Z</dcterms:modified>
</cp:coreProperties>
</file>